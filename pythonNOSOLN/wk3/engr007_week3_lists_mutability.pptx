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58" r:id="rId5"/>
    <p:sldId id="359" r:id="rId6"/>
    <p:sldId id="360" r:id="rId7"/>
    <p:sldId id="361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ola, Courtney A" initials="TCA" lastIdx="1" clrIdx="0">
    <p:extLst>
      <p:ext uri="{19B8F6BF-5375-455C-9EA6-DF929625EA0E}">
        <p15:presenceInfo xmlns:p15="http://schemas.microsoft.com/office/powerpoint/2012/main" userId="S-1-5-21-4027829005-1107895287-290554039-156439" providerId="AD"/>
      </p:ext>
    </p:extLst>
  </p:cmAuthor>
  <p:cmAuthor id="2" name="Garguilo, Maria" initials="GM" lastIdx="48" clrIdx="1">
    <p:extLst>
      <p:ext uri="{19B8F6BF-5375-455C-9EA6-DF929625EA0E}">
        <p15:presenceInfo xmlns:p15="http://schemas.microsoft.com/office/powerpoint/2012/main" userId="S::maria.garguilo@cengage.com::f492c7e0-8838-4738-aa5f-1173468a535a" providerId="AD"/>
      </p:ext>
    </p:extLst>
  </p:cmAuthor>
  <p:cmAuthor id="3" name="Your Name" initials="YN" lastIdx="27" clrIdx="2">
    <p:extLst>
      <p:ext uri="{19B8F6BF-5375-455C-9EA6-DF929625EA0E}">
        <p15:presenceInfo xmlns:p15="http://schemas.microsoft.com/office/powerpoint/2012/main" userId="9252b8fd17e1143e" providerId="Windows Live"/>
      </p:ext>
    </p:extLst>
  </p:cmAuthor>
  <p:cmAuthor id="4" name="Maria Garguilo" initials="MG" lastIdx="6" clrIdx="3">
    <p:extLst>
      <p:ext uri="{19B8F6BF-5375-455C-9EA6-DF929625EA0E}">
        <p15:presenceInfo xmlns:p15="http://schemas.microsoft.com/office/powerpoint/2012/main" userId="hW/smd6gc4bK2FXdG5nqn827kdqZl60puQvp7CnrnqI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4A78"/>
    <a:srgbClr val="006298"/>
    <a:srgbClr val="FF6300"/>
    <a:srgbClr val="E9255F"/>
    <a:srgbClr val="0098D4"/>
    <a:srgbClr val="00B8E7"/>
    <a:srgbClr val="81D0ED"/>
    <a:srgbClr val="F6B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20" autoAdjust="0"/>
    <p:restoredTop sz="86479"/>
  </p:normalViewPr>
  <p:slideViewPr>
    <p:cSldViewPr snapToGrid="0" snapToObjects="1">
      <p:cViewPr varScale="1">
        <p:scale>
          <a:sx n="101" d="100"/>
          <a:sy n="101" d="100"/>
        </p:scale>
        <p:origin x="71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254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AA413-85C6-40F2-B867-268CAAA7E377}" type="datetimeFigureOut">
              <a:rPr lang="en-US" smtClean="0"/>
              <a:t>8/4/23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803E-66EE-42CE-8DFB-98553954E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10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6680D68-05FF-7942-990A-B21BB8E6CE33}" type="datetimeFigureOut">
              <a:rPr lang="en-US"/>
              <a:pPr>
                <a:defRPr/>
              </a:pPr>
              <a:t>8/4/23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CAE60C-72A0-D14D-8733-C13212F694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1187"/>
            <a:ext cx="10515600" cy="6840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867275" y="3619985"/>
            <a:ext cx="2457450" cy="597477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ni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74574" y="2193424"/>
            <a:ext cx="9642852" cy="618014"/>
          </a:xfrm>
        </p:spPr>
        <p:txBody>
          <a:bodyPr anchor="b">
            <a:noAutofit/>
          </a:bodyPr>
          <a:lstStyle>
            <a:lvl1pPr marL="0" indent="0" algn="ctr">
              <a:buNone/>
              <a:defRPr sz="5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Unit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96122"/>
            <a:ext cx="10515600" cy="672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3817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910" y="3112899"/>
            <a:ext cx="3297426" cy="618014"/>
          </a:xfrm>
        </p:spPr>
        <p:txBody>
          <a:bodyPr anchor="b">
            <a:no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910" y="4035474"/>
            <a:ext cx="6402684" cy="67210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6063" y="314482"/>
            <a:ext cx="3343275" cy="431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6177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0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Section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4" y="1290690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40228" y="1737343"/>
            <a:ext cx="10711543" cy="1462674"/>
          </a:xfrm>
        </p:spPr>
        <p:txBody>
          <a:bodyPr>
            <a:no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Clr>
                <a:srgbClr val="000000"/>
              </a:buClr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3" y="3389727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43572" y="3856204"/>
            <a:ext cx="10711543" cy="1462674"/>
          </a:xfrm>
        </p:spPr>
        <p:txBody>
          <a:bodyPr>
            <a:noAutofit/>
          </a:bodyPr>
          <a:lstStyle>
            <a:lvl1pPr marL="0" indent="0" algn="l"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</a:t>
            </a:r>
          </a:p>
        </p:txBody>
      </p:sp>
      <p:sp>
        <p:nvSpPr>
          <p:cNvPr id="12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7936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43576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2202774"/>
            <a:ext cx="3300402" cy="3953578"/>
          </a:xfrm>
        </p:spPr>
        <p:txBody>
          <a:bodyPr>
            <a:normAutofit/>
          </a:bodyPr>
          <a:lstStyle>
            <a:lvl1pPr marL="0" indent="0">
              <a:buClr>
                <a:srgbClr val="004A78"/>
              </a:buClr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Viverra</a:t>
            </a:r>
            <a:r>
              <a:rPr lang="en-US" dirty="0"/>
              <a:t> vitae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ac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et.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 </a:t>
            </a:r>
            <a:r>
              <a:rPr lang="en-US" dirty="0" err="1"/>
              <a:t>nascetur</a:t>
            </a:r>
            <a:r>
              <a:rPr lang="en-US" dirty="0"/>
              <a:t>.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4445799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445799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Viverra</a:t>
            </a:r>
            <a:r>
              <a:rPr lang="en-US" dirty="0"/>
              <a:t> vitae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ac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et.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 </a:t>
            </a:r>
            <a:r>
              <a:rPr lang="en-US" dirty="0" err="1"/>
              <a:t>nascetur</a:t>
            </a:r>
            <a:r>
              <a:rPr lang="en-US" dirty="0"/>
              <a:t>.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8145953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154717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Viverra</a:t>
            </a:r>
            <a:r>
              <a:rPr lang="en-US" dirty="0"/>
              <a:t> vitae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ac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et.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 </a:t>
            </a:r>
            <a:r>
              <a:rPr lang="en-US" dirty="0" err="1"/>
              <a:t>nascetur</a:t>
            </a:r>
            <a:r>
              <a:rPr lang="en-US" dirty="0"/>
              <a:t>.</a:t>
            </a:r>
          </a:p>
        </p:txBody>
      </p:sp>
      <p:sp>
        <p:nvSpPr>
          <p:cNvPr id="10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275005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40228" y="4846655"/>
            <a:ext cx="10711543" cy="8255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dolore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magna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47480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33118" y="1619557"/>
            <a:ext cx="6477000" cy="425926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485870" y="3744802"/>
            <a:ext cx="3976406" cy="1808163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sed 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dolore magna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711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dio/Video Embed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485870" y="3744802"/>
            <a:ext cx="3976406" cy="1808163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sed 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dolore magna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3015E1C-DFA4-4FD8-8364-EF8871E55EBF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838200" y="1530350"/>
            <a:ext cx="6297613" cy="4373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0000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F6300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  <a:p>
            <a:pPr lvl="0"/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r>
              <a:rPr lang="en-US" sz="1400" dirty="0">
                <a:solidFill>
                  <a:srgbClr val="004A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Joyce Farrell, Java Programming, 10th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05811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457200" indent="-457200">
              <a:buClr>
                <a:srgbClr val="004A78"/>
              </a:buClr>
              <a:buFont typeface="+mj-lt"/>
              <a:buAutoNum type="arabicPeriod"/>
              <a:defRPr sz="2000">
                <a:solidFill>
                  <a:srgbClr val="000000"/>
                </a:solidFill>
              </a:defRPr>
            </a:lvl1pPr>
            <a:lvl2pPr marL="45720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None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  <a:p>
            <a:pPr lvl="0"/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r>
              <a:rPr lang="en-US" sz="1400" dirty="0">
                <a:solidFill>
                  <a:srgbClr val="004A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Joyce Farrell, Java Programming, 10th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34264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1895522" y="2019868"/>
            <a:ext cx="8128000" cy="3380095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6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 b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37326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81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843" y="6356350"/>
            <a:ext cx="1579562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268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rgbClr val="006298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1" r:id="rId2"/>
    <p:sldLayoutId id="2147483722" r:id="rId3"/>
    <p:sldLayoutId id="2147483714" r:id="rId4"/>
    <p:sldLayoutId id="2147483718" r:id="rId5"/>
    <p:sldLayoutId id="2147483715" r:id="rId6"/>
    <p:sldLayoutId id="2147483716" r:id="rId7"/>
    <p:sldLayoutId id="2147483719" r:id="rId8"/>
    <p:sldLayoutId id="2147483720" r:id="rId9"/>
    <p:sldLayoutId id="2147483725" r:id="rId10"/>
    <p:sldLayoutId id="2147483723" r:id="rId11"/>
    <p:sldLayoutId id="2147483724" r:id="rId12"/>
    <p:sldLayoutId id="2147483713" r:id="rId13"/>
    <p:sldLayoutId id="2147483717" r:id="rId14"/>
    <p:sldLayoutId id="2147483726" r:id="rId15"/>
  </p:sldLayoutIdLst>
  <p:hf sldNum="0"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 b="1" i="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None/>
        <a:defRPr sz="28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25A2-C529-480C-BB04-C6665EEA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629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Mutability</a:t>
            </a:r>
            <a:endParaRPr lang="en-US" altLang="en-US" sz="40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52886-8B8B-9693-C1DF-BBF7577994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3577" y="1289684"/>
            <a:ext cx="4793624" cy="3732692"/>
          </a:xfrm>
        </p:spPr>
        <p:txBody>
          <a:bodyPr/>
          <a:lstStyle/>
          <a:p>
            <a:r>
              <a:rPr lang="en-US" sz="1800" dirty="0">
                <a:effectLst/>
                <a:latin typeface="CourierNewPSMT" panose="02070309020205020404" pitchFamily="49" charset="0"/>
              </a:rPr>
              <a:t>Techs = ['MIT', 'Caltech']</a:t>
            </a:r>
          </a:p>
          <a:p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 = ['Harvard', 'Yale', 'Brown’]</a:t>
            </a: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5678B-8BDF-3A36-9077-F4FC1035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0" y="165535"/>
            <a:ext cx="4006850" cy="31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7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7BB6AD-74A2-EBED-8AAB-C76C0E0B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49" y="3528795"/>
            <a:ext cx="4159250" cy="3121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025A2-C529-480C-BB04-C6665EEA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629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Mutability</a:t>
            </a:r>
            <a:endParaRPr lang="en-US" altLang="en-US" sz="40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52886-8B8B-9693-C1DF-BBF7577994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8946523" cy="3732692"/>
          </a:xfrm>
        </p:spPr>
        <p:txBody>
          <a:bodyPr/>
          <a:lstStyle/>
          <a:p>
            <a:r>
              <a:rPr lang="en-US" sz="1800" dirty="0">
                <a:effectLst/>
                <a:latin typeface="CourierNewPSMT" panose="02070309020205020404" pitchFamily="49" charset="0"/>
              </a:rPr>
              <a:t>Techs = ['MIT', 'Caltech']</a:t>
            </a:r>
          </a:p>
          <a:p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 = ['Harvard', 'Yale', 'Brown’]</a:t>
            </a: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 = [Techs, </a:t>
            </a:r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] </a:t>
            </a: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Univs1 = [['MIT', 'Caltech'], ['Harvard', 'Yale', 'Brown']]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B11A5-1024-A883-4DAE-3F4E0705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50" y="165535"/>
            <a:ext cx="4006850" cy="31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7BB6AD-74A2-EBED-8AAB-C76C0E0B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49" y="3528795"/>
            <a:ext cx="4159250" cy="3121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025A2-C529-480C-BB04-C6665EEA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629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Mutability</a:t>
            </a:r>
            <a:endParaRPr lang="en-US" altLang="en-US" sz="40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52886-8B8B-9693-C1DF-BBF7577994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8946523" cy="3732692"/>
          </a:xfrm>
        </p:spPr>
        <p:txBody>
          <a:bodyPr/>
          <a:lstStyle/>
          <a:p>
            <a:r>
              <a:rPr lang="en-US" sz="1800" dirty="0">
                <a:effectLst/>
                <a:latin typeface="CourierNewPSMT" panose="02070309020205020404" pitchFamily="49" charset="0"/>
              </a:rPr>
              <a:t>Techs = ['MIT', 'Caltech']</a:t>
            </a:r>
          </a:p>
          <a:p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 = ['Harvard', 'Yale', 'Brown’]</a:t>
            </a: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 = [Techs, </a:t>
            </a:r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] </a:t>
            </a: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Univs1 = [['MIT', 'Caltech'], ['Harvard', 'Yale', 'Brown’]] </a:t>
            </a: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r>
              <a:rPr lang="en-US" sz="1800" dirty="0" err="1">
                <a:effectLst/>
                <a:highlight>
                  <a:srgbClr val="FFFF00"/>
                </a:highlight>
                <a:latin typeface="CourierNewPSMT" panose="02070309020205020404" pitchFamily="49" charset="0"/>
              </a:rPr>
              <a:t>Techs.append</a:t>
            </a:r>
            <a:r>
              <a:rPr lang="en-US" sz="1800" dirty="0">
                <a:effectLst/>
                <a:highlight>
                  <a:srgbClr val="FFFF00"/>
                </a:highlight>
                <a:latin typeface="CourierNewPSMT" panose="02070309020205020404" pitchFamily="49" charset="0"/>
              </a:rPr>
              <a:t>('RPI') </a:t>
            </a:r>
            <a:endParaRPr lang="en-US" dirty="0">
              <a:effectLst/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B11A5-1024-A883-4DAE-3F4E0705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50" y="165535"/>
            <a:ext cx="4006850" cy="31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9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7BB6AD-74A2-EBED-8AAB-C76C0E0B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49" y="3528795"/>
            <a:ext cx="4159250" cy="3121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025A2-C529-480C-BB04-C6665EEA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>
                <a:solidFill>
                  <a:srgbClr val="00629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Mutability</a:t>
            </a:r>
            <a:endParaRPr lang="en-US" altLang="en-US" sz="40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52886-8B8B-9693-C1DF-BBF7577994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8946523" cy="3732692"/>
          </a:xfrm>
        </p:spPr>
        <p:txBody>
          <a:bodyPr/>
          <a:lstStyle/>
          <a:p>
            <a:r>
              <a:rPr lang="en-US" sz="1800" dirty="0">
                <a:effectLst/>
                <a:latin typeface="CourierNewPSMT" panose="02070309020205020404" pitchFamily="49" charset="0"/>
              </a:rPr>
              <a:t>Techs = ['MIT', 'Caltech']</a:t>
            </a:r>
          </a:p>
          <a:p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 = ['Harvard', 'Yale', 'Brown’]</a:t>
            </a: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effectLst/>
              <a:latin typeface="CourierNewPSMT" panose="02070309020205020404" pitchFamily="49" charset="0"/>
            </a:endParaRP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 = [Techs, </a:t>
            </a:r>
            <a:r>
              <a:rPr lang="en-US" sz="1800" dirty="0" err="1">
                <a:effectLst/>
                <a:latin typeface="CourierNewPSMT" panose="02070309020205020404" pitchFamily="49" charset="0"/>
              </a:rPr>
              <a:t>Ivys</a:t>
            </a:r>
            <a:r>
              <a:rPr lang="en-US" sz="1800" dirty="0">
                <a:effectLst/>
                <a:latin typeface="CourierNewPSMT" panose="02070309020205020404" pitchFamily="49" charset="0"/>
              </a:rPr>
              <a:t>] </a:t>
            </a:r>
          </a:p>
          <a:p>
            <a:r>
              <a:rPr lang="en-US" sz="1800" dirty="0">
                <a:effectLst/>
                <a:latin typeface="CourierNewPSMT" panose="02070309020205020404" pitchFamily="49" charset="0"/>
              </a:rPr>
              <a:t>Univs1 = [['MIT', 'Caltech'], ['Harvard', 'Yale', 'Brown’]] </a:t>
            </a: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endParaRPr lang="en-US" sz="1800" dirty="0">
              <a:latin typeface="CourierNewPSMT" panose="02070309020205020404" pitchFamily="49" charset="0"/>
            </a:endParaRPr>
          </a:p>
          <a:p>
            <a:r>
              <a:rPr lang="en-US" sz="1800" dirty="0" err="1">
                <a:effectLst/>
                <a:highlight>
                  <a:srgbClr val="FFFF00"/>
                </a:highlight>
                <a:latin typeface="CourierNewPSMT" panose="02070309020205020404" pitchFamily="49" charset="0"/>
              </a:rPr>
              <a:t>Techs.append</a:t>
            </a:r>
            <a:r>
              <a:rPr lang="en-US" sz="1800" dirty="0">
                <a:effectLst/>
                <a:highlight>
                  <a:srgbClr val="FFFF00"/>
                </a:highlight>
                <a:latin typeface="CourierNewPSMT" panose="02070309020205020404" pitchFamily="49" charset="0"/>
              </a:rPr>
              <a:t>('RPI') </a:t>
            </a:r>
            <a:endParaRPr lang="en-US" dirty="0">
              <a:effectLst/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59E300-4D35-7320-3C21-EA724ACBF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629" y="0"/>
            <a:ext cx="4441570" cy="332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8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0B7E6"/>
      </a:hlink>
      <a:folHlink>
        <a:srgbClr val="0098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ccessible_PPT_Cengage.potx" id="{8657E95E-D601-4622-93AD-E122BF442589}" vid="{BBF71559-ED4F-42B5-98FD-480A317797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9A9510EA35640BFF9AA65172B1243" ma:contentTypeVersion="10" ma:contentTypeDescription="Create a new document." ma:contentTypeScope="" ma:versionID="320cf9d96ba60ad326f31ca465b90014">
  <xsd:schema xmlns:xsd="http://www.w3.org/2001/XMLSchema" xmlns:xs="http://www.w3.org/2001/XMLSchema" xmlns:p="http://schemas.microsoft.com/office/2006/metadata/properties" xmlns:ns2="0f302c04-584d-4df5-8948-8b6dd1f3c1a5" xmlns:ns3="48fa25a7-52b6-4e1f-81c8-80356bf0725f" targetNamespace="http://schemas.microsoft.com/office/2006/metadata/properties" ma:root="true" ma:fieldsID="b2b56c629f8f824a699d99d0a50051e2" ns2:_="" ns3:_="">
    <xsd:import namespace="0f302c04-584d-4df5-8948-8b6dd1f3c1a5"/>
    <xsd:import namespace="48fa25a7-52b6-4e1f-81c8-80356bf07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302c04-584d-4df5-8948-8b6dd1f3c1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tatus" ma:index="15" nillable="true" ma:displayName="Status" ma:default="1. In development" ma:format="Dropdown" ma:internalName="Status">
      <xsd:simpleType>
        <xsd:restriction base="dms:Choice">
          <xsd:enumeration value="1. In development"/>
          <xsd:enumeration value="2. COH complete"/>
          <xsd:enumeration value="3. Under LCoE Review"/>
          <xsd:enumeration value="4. Ingested into Atla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fa25a7-52b6-4e1f-81c8-80356bf0725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8fa25a7-52b6-4e1f-81c8-80356bf0725f">
      <UserInfo>
        <DisplayName/>
        <AccountId xsi:nil="true"/>
        <AccountType/>
      </UserInfo>
    </SharedWithUsers>
    <Status xmlns="0f302c04-584d-4df5-8948-8b6dd1f3c1a5">1. In development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5D83D5-733A-4FD2-B124-BEA55F840D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302c04-584d-4df5-8948-8b6dd1f3c1a5"/>
    <ds:schemaRef ds:uri="48fa25a7-52b6-4e1f-81c8-80356bf072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9BA192-EF86-48DF-982C-2C526A268392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0f302c04-584d-4df5-8948-8b6dd1f3c1a5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48fa25a7-52b6-4e1f-81c8-80356bf0725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2CFAA7-E308-4DCB-89CD-C84C20E902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Accessible_PPT_Template_Cengage</Template>
  <TotalTime>11768</TotalTime>
  <Words>143</Words>
  <Application>Microsoft Macintosh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</vt:lpstr>
      <vt:lpstr>Calibri</vt:lpstr>
      <vt:lpstr>CourierNewPSMT</vt:lpstr>
      <vt:lpstr>Helvetica</vt:lpstr>
      <vt:lpstr>Open Sans</vt:lpstr>
      <vt:lpstr>Summer Font</vt:lpstr>
      <vt:lpstr>Office Theme</vt:lpstr>
      <vt:lpstr>Mutability</vt:lpstr>
      <vt:lpstr>Mutability</vt:lpstr>
      <vt:lpstr>Mutability</vt:lpstr>
      <vt:lpstr>Mutability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Kimberley Grove</dc:creator>
  <cp:lastModifiedBy>Vaziri, Sana</cp:lastModifiedBy>
  <cp:revision>322</cp:revision>
  <cp:lastPrinted>2023-02-04T18:29:02Z</cp:lastPrinted>
  <dcterms:created xsi:type="dcterms:W3CDTF">2019-11-14T21:20:16Z</dcterms:created>
  <dcterms:modified xsi:type="dcterms:W3CDTF">2023-08-06T00:13:16Z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0x0101003689A9510EA35640BFF9AA65172B1243</vt:lpwstr>
  </property>
  <property fmtid="{D5CDD505-2E9C-101B-9397-08002B2CF9AE}" pid="3" name="Order">
    <vt:r8>112600</vt:r8>
  </property>
  <property fmtid="{D5CDD505-2E9C-101B-9397-08002B2CF9AE}" pid="4" name="Category">
    <vt:lpwstr>Accessibility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Document Type">
    <vt:lpwstr>Template</vt:lpwstr>
  </property>
  <property fmtid="{D5CDD505-2E9C-101B-9397-08002B2CF9AE}" pid="8" name="Audience">
    <vt:lpwstr>Content Developer</vt:lpwstr>
  </property>
  <property fmtid="{D5CDD505-2E9C-101B-9397-08002B2CF9AE}" pid="9" name="Department">
    <vt:lpwstr>GPM Training</vt:lpwstr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
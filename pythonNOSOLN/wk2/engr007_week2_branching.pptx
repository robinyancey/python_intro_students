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Open Sans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8" roundtripDataSignature="AMtx7mgmWOK8EL69ZaNEyLt8ExjWhvI03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OpenSans-bold.fntdata"/><Relationship Id="rId14" Type="http://schemas.openxmlformats.org/officeDocument/2006/relationships/font" Target="fonts/OpenSans-regular.fntdata"/><Relationship Id="rId17" Type="http://schemas.openxmlformats.org/officeDocument/2006/relationships/font" Target="fonts/OpenSans-boldItalic.fntdata"/><Relationship Id="rId16" Type="http://schemas.openxmlformats.org/officeDocument/2006/relationships/font" Target="fonts/Open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 showMasterSp="0">
  <p:cSld name="1_Title and Conten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0"/>
          <p:cNvSpPr txBox="1"/>
          <p:nvPr>
            <p:ph type="title"/>
          </p:nvPr>
        </p:nvSpPr>
        <p:spPr>
          <a:xfrm>
            <a:off x="838200" y="365125"/>
            <a:ext cx="10515600" cy="672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4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" type="body"/>
          </p:nvPr>
        </p:nvSpPr>
        <p:spPr>
          <a:xfrm>
            <a:off x="743576" y="1289684"/>
            <a:ext cx="10711543" cy="37326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2" y="16"/>
            <a:ext cx="12191807" cy="68658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1"/>
          <p:cNvSpPr txBox="1"/>
          <p:nvPr>
            <p:ph type="title"/>
          </p:nvPr>
        </p:nvSpPr>
        <p:spPr>
          <a:xfrm>
            <a:off x="838200" y="2291187"/>
            <a:ext cx="10515600" cy="684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" type="body"/>
          </p:nvPr>
        </p:nvSpPr>
        <p:spPr>
          <a:xfrm>
            <a:off x="4867275" y="3619985"/>
            <a:ext cx="2457450" cy="5974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0" i="0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A78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A78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A78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A78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1" name="Google Shape;2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4861" y="6356350"/>
            <a:ext cx="1699425" cy="383864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11"/>
          <p:cNvSpPr txBox="1"/>
          <p:nvPr>
            <p:ph idx="11" type="ftr"/>
          </p:nvPr>
        </p:nvSpPr>
        <p:spPr>
          <a:xfrm>
            <a:off x="2923890" y="6356350"/>
            <a:ext cx="880166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nit Slide" showMasterSp="0">
  <p:cSld name="Unit Slid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2" y="16"/>
            <a:ext cx="12191807" cy="6865874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1274574" y="2193424"/>
            <a:ext cx="9642852" cy="61801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b="0" i="0" sz="5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A78"/>
              </a:buClr>
              <a:buSzPts val="2400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A78"/>
              </a:buClr>
              <a:buSzPts val="2000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A78"/>
              </a:buClr>
              <a:buSzPts val="1800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A78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type="title"/>
          </p:nvPr>
        </p:nvSpPr>
        <p:spPr>
          <a:xfrm>
            <a:off x="838200" y="3096122"/>
            <a:ext cx="10515600" cy="672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4861" y="6356350"/>
            <a:ext cx="1699425" cy="38386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12"/>
          <p:cNvSpPr txBox="1"/>
          <p:nvPr>
            <p:ph idx="11" type="ftr"/>
          </p:nvPr>
        </p:nvSpPr>
        <p:spPr>
          <a:xfrm>
            <a:off x="2923890" y="6356350"/>
            <a:ext cx="880166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ter Slide" showMasterSp="0">
  <p:cSld name="Chapter Slide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2" y="16"/>
            <a:ext cx="12191807" cy="6865874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3996910" y="3112899"/>
            <a:ext cx="3297426" cy="61801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0" i="0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A78"/>
              </a:buClr>
              <a:buSzPts val="2400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A78"/>
              </a:buClr>
              <a:buSzPts val="2000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A78"/>
              </a:buClr>
              <a:buSzPts val="1800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A78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type="title"/>
          </p:nvPr>
        </p:nvSpPr>
        <p:spPr>
          <a:xfrm>
            <a:off x="3996910" y="4035474"/>
            <a:ext cx="6402684" cy="672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3"/>
          <p:cNvSpPr/>
          <p:nvPr>
            <p:ph idx="2" type="pic"/>
          </p:nvPr>
        </p:nvSpPr>
        <p:spPr>
          <a:xfrm>
            <a:off x="246063" y="314482"/>
            <a:ext cx="3343275" cy="4318000"/>
          </a:xfrm>
          <a:prstGeom prst="rect">
            <a:avLst/>
          </a:prstGeom>
          <a:noFill/>
          <a:ln>
            <a:noFill/>
          </a:ln>
        </p:spPr>
      </p:sp>
      <p:pic>
        <p:nvPicPr>
          <p:cNvPr id="34" name="Google Shape;3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4861" y="6356350"/>
            <a:ext cx="1699425" cy="383864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13"/>
          <p:cNvSpPr txBox="1"/>
          <p:nvPr>
            <p:ph idx="11" type="ftr"/>
          </p:nvPr>
        </p:nvSpPr>
        <p:spPr>
          <a:xfrm>
            <a:off x="2923890" y="6356350"/>
            <a:ext cx="880166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>
  <p:cSld name="Title and Conte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ections and Content" showMasterSp="0">
  <p:cSld name="Two Sections and Conte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5"/>
          <p:cNvSpPr txBox="1"/>
          <p:nvPr>
            <p:ph type="title"/>
          </p:nvPr>
        </p:nvSpPr>
        <p:spPr>
          <a:xfrm>
            <a:off x="838200" y="365125"/>
            <a:ext cx="10515600" cy="672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" type="body"/>
          </p:nvPr>
        </p:nvSpPr>
        <p:spPr>
          <a:xfrm>
            <a:off x="743574" y="1290690"/>
            <a:ext cx="10711543" cy="3480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6298"/>
              </a:buClr>
              <a:buSzPts val="2400"/>
              <a:buNone/>
              <a:defRPr b="1" i="0" sz="2400">
                <a:solidFill>
                  <a:srgbClr val="00629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5"/>
          <p:cNvSpPr txBox="1"/>
          <p:nvPr>
            <p:ph idx="2" type="body"/>
          </p:nvPr>
        </p:nvSpPr>
        <p:spPr>
          <a:xfrm>
            <a:off x="740228" y="1737343"/>
            <a:ext cx="10711543" cy="14626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5"/>
          <p:cNvSpPr txBox="1"/>
          <p:nvPr>
            <p:ph idx="3" type="body"/>
          </p:nvPr>
        </p:nvSpPr>
        <p:spPr>
          <a:xfrm>
            <a:off x="743573" y="3389727"/>
            <a:ext cx="10711543" cy="3480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6298"/>
              </a:buClr>
              <a:buSzPts val="2400"/>
              <a:buNone/>
              <a:defRPr b="1" i="0" sz="2400">
                <a:solidFill>
                  <a:srgbClr val="00629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4" type="body"/>
          </p:nvPr>
        </p:nvSpPr>
        <p:spPr>
          <a:xfrm>
            <a:off x="743572" y="3856204"/>
            <a:ext cx="10711543" cy="14626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b="0" i="0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15"/>
          <p:cNvSpPr txBox="1"/>
          <p:nvPr/>
        </p:nvSpPr>
        <p:spPr>
          <a:xfrm>
            <a:off x="3007866" y="6323299"/>
            <a:ext cx="8956009" cy="477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A78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4A78"/>
                </a:solidFill>
                <a:latin typeface="arial"/>
                <a:ea typeface="arial"/>
                <a:cs typeface="arial"/>
                <a:sym typeface="arial"/>
              </a:rPr>
              <a:t>[Author Name], [Book Title], [#] Edition. © [Insert Year] Cengage. All Rights Reserved. May not be scanned, copied or duplicated, or posted to a publicly accessible website, in whole or in part.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 Comparison" showMasterSp="0">
  <p:cSld name="Two Content Comparis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ntent Comparison" showMasterSp="0">
  <p:cSld name="Three Content Comparis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7"/>
          <p:cNvSpPr txBox="1"/>
          <p:nvPr>
            <p:ph type="title"/>
          </p:nvPr>
        </p:nvSpPr>
        <p:spPr>
          <a:xfrm>
            <a:off x="838200" y="365125"/>
            <a:ext cx="10515600" cy="672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" type="body"/>
          </p:nvPr>
        </p:nvSpPr>
        <p:spPr>
          <a:xfrm>
            <a:off x="743576" y="1579015"/>
            <a:ext cx="3300402" cy="492443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rotWithShape="0" algn="t" dir="5400000" dist="12700">
              <a:srgbClr val="000000"/>
            </a:outerShdw>
          </a:effectLst>
        </p:spPr>
        <p:txBody>
          <a:bodyPr anchorCtr="0" anchor="b" bIns="91425" lIns="0" spcFirstLastPara="1" rIns="0" wrap="square" tIns="91425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298"/>
              </a:buClr>
              <a:buSzPts val="2000"/>
              <a:buNone/>
              <a:defRPr b="1" sz="2000">
                <a:solidFill>
                  <a:srgbClr val="006298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A78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A78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2" type="body"/>
          </p:nvPr>
        </p:nvSpPr>
        <p:spPr>
          <a:xfrm>
            <a:off x="743576" y="2202774"/>
            <a:ext cx="3300402" cy="39535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4A78"/>
              </a:buClr>
              <a:buSzPts val="1800"/>
              <a:buFont typeface="Arial"/>
              <a:buNone/>
              <a:defRPr sz="1800">
                <a:solidFill>
                  <a:srgbClr val="000000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A78"/>
              </a:buClr>
              <a:buSzPts val="1800"/>
              <a:buFont typeface="Arial"/>
              <a:buChar char="‒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A78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A78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A78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7"/>
          <p:cNvSpPr txBox="1"/>
          <p:nvPr>
            <p:ph idx="3" type="body"/>
          </p:nvPr>
        </p:nvSpPr>
        <p:spPr>
          <a:xfrm>
            <a:off x="4445799" y="1579015"/>
            <a:ext cx="3300402" cy="492443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rotWithShape="0" algn="t" dir="5400000" dist="12700">
              <a:srgbClr val="000000"/>
            </a:outerShdw>
          </a:effectLst>
        </p:spPr>
        <p:txBody>
          <a:bodyPr anchorCtr="0" anchor="b" bIns="91425" lIns="0" spcFirstLastPara="1" rIns="0" wrap="square" tIns="91425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298"/>
              </a:buClr>
              <a:buSzPts val="2000"/>
              <a:buNone/>
              <a:defRPr b="1" sz="2000">
                <a:solidFill>
                  <a:srgbClr val="006298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A78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A78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7"/>
          <p:cNvSpPr txBox="1"/>
          <p:nvPr>
            <p:ph idx="4" type="body"/>
          </p:nvPr>
        </p:nvSpPr>
        <p:spPr>
          <a:xfrm>
            <a:off x="4445799" y="2202774"/>
            <a:ext cx="3300402" cy="39535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4A78"/>
              </a:buClr>
              <a:buSzPts val="1800"/>
              <a:buNone/>
              <a:defRPr sz="1800">
                <a:solidFill>
                  <a:srgbClr val="000000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A78"/>
              </a:buClr>
              <a:buSzPts val="1800"/>
              <a:buFont typeface="Arial"/>
              <a:buChar char="‒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A78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A78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A78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5" type="body"/>
          </p:nvPr>
        </p:nvSpPr>
        <p:spPr>
          <a:xfrm>
            <a:off x="8145953" y="1579015"/>
            <a:ext cx="3300402" cy="492443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rotWithShape="0" algn="t" dir="5400000" dist="12700">
              <a:srgbClr val="000000"/>
            </a:outerShdw>
          </a:effectLst>
        </p:spPr>
        <p:txBody>
          <a:bodyPr anchorCtr="0" anchor="b" bIns="91425" lIns="0" spcFirstLastPara="1" rIns="0" wrap="square" tIns="91425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298"/>
              </a:buClr>
              <a:buSzPts val="2000"/>
              <a:buNone/>
              <a:defRPr b="1" sz="2000">
                <a:solidFill>
                  <a:srgbClr val="006298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A78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A78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6" type="body"/>
          </p:nvPr>
        </p:nvSpPr>
        <p:spPr>
          <a:xfrm>
            <a:off x="8154717" y="2202774"/>
            <a:ext cx="3300402" cy="39535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4A78"/>
              </a:buClr>
              <a:buSzPts val="1800"/>
              <a:buNone/>
              <a:defRPr sz="1800">
                <a:solidFill>
                  <a:srgbClr val="000000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A78"/>
              </a:buClr>
              <a:buSzPts val="1800"/>
              <a:buFont typeface="Arial"/>
              <a:buChar char="‒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A78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A78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A78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17"/>
          <p:cNvSpPr txBox="1"/>
          <p:nvPr/>
        </p:nvSpPr>
        <p:spPr>
          <a:xfrm>
            <a:off x="3007866" y="6323299"/>
            <a:ext cx="8956009" cy="477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A78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4A78"/>
                </a:solidFill>
                <a:latin typeface="arial"/>
                <a:ea typeface="arial"/>
                <a:cs typeface="arial"/>
                <a:sym typeface="arial"/>
              </a:rPr>
              <a:t>[Author Name], [Book Title], [#] Edition. © [Insert Year] Cengage. All Rights Reserved. May not be scanned, copied or duplicated, or posted to a publicly accessible website, in whole or in part.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ith Caption" showMasterSp="0">
  <p:cSld name="Title and Content with Caption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838200" y="365125"/>
            <a:ext cx="10515600" cy="672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743576" y="1289684"/>
            <a:ext cx="10711543" cy="27500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740228" y="4846655"/>
            <a:ext cx="10711543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298"/>
              </a:buClr>
              <a:buSzPts val="1800"/>
              <a:buFont typeface="Arial"/>
              <a:buNone/>
              <a:defRPr sz="1800">
                <a:solidFill>
                  <a:srgbClr val="00629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A78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A78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A78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A78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18"/>
          <p:cNvSpPr txBox="1"/>
          <p:nvPr/>
        </p:nvSpPr>
        <p:spPr>
          <a:xfrm>
            <a:off x="3007866" y="6323299"/>
            <a:ext cx="8956009" cy="477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A78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4A78"/>
                </a:solidFill>
                <a:latin typeface="arial"/>
                <a:ea typeface="arial"/>
                <a:cs typeface="arial"/>
                <a:sym typeface="arial"/>
              </a:rPr>
              <a:t>[Author Name], [Book Title], [#] Edition. © [Insert Year] Cengage. All Rights Reserved. May not be scanned, copied or duplicated, or posted to a publicly accessible website, in whole or in part.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nd Caption" showMasterSp="0">
  <p:cSld name="Image and Ca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9"/>
          <p:cNvSpPr txBox="1"/>
          <p:nvPr>
            <p:ph type="title"/>
          </p:nvPr>
        </p:nvSpPr>
        <p:spPr>
          <a:xfrm>
            <a:off x="838200" y="365125"/>
            <a:ext cx="10515600" cy="672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9"/>
          <p:cNvSpPr/>
          <p:nvPr>
            <p:ph idx="2" type="pic"/>
          </p:nvPr>
        </p:nvSpPr>
        <p:spPr>
          <a:xfrm>
            <a:off x="733118" y="1619557"/>
            <a:ext cx="6477000" cy="4259263"/>
          </a:xfrm>
          <a:prstGeom prst="rect">
            <a:avLst/>
          </a:prstGeom>
          <a:noFill/>
          <a:ln>
            <a:noFill/>
          </a:ln>
        </p:spPr>
      </p:sp>
      <p:sp>
        <p:nvSpPr>
          <p:cNvPr id="62" name="Google Shape;62;p19"/>
          <p:cNvSpPr txBox="1"/>
          <p:nvPr>
            <p:ph idx="1" type="body"/>
          </p:nvPr>
        </p:nvSpPr>
        <p:spPr>
          <a:xfrm>
            <a:off x="7485870" y="3744802"/>
            <a:ext cx="3976406" cy="1808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298"/>
              </a:buClr>
              <a:buSzPts val="1800"/>
              <a:buFont typeface="Arial"/>
              <a:buNone/>
              <a:defRPr sz="1800">
                <a:solidFill>
                  <a:srgbClr val="00629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A78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A78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A78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A78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19"/>
          <p:cNvSpPr txBox="1"/>
          <p:nvPr/>
        </p:nvSpPr>
        <p:spPr>
          <a:xfrm>
            <a:off x="3007866" y="6323299"/>
            <a:ext cx="8956009" cy="477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A78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4A78"/>
                </a:solidFill>
                <a:latin typeface="arial"/>
                <a:ea typeface="arial"/>
                <a:cs typeface="arial"/>
                <a:sym typeface="arial"/>
              </a:rPr>
              <a:t>[Author Name], [Book Title], [#] Edition. © [Insert Year] Cengage. All Rights Reserved. May not be scanned, copied or duplicated, or posted to a publicly accessible website, in whole or in part.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o/Video Embedded" showMasterSp="0">
  <p:cSld name="Audio/Video Embedded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0"/>
          <p:cNvSpPr txBox="1"/>
          <p:nvPr>
            <p:ph type="title"/>
          </p:nvPr>
        </p:nvSpPr>
        <p:spPr>
          <a:xfrm>
            <a:off x="838200" y="365125"/>
            <a:ext cx="10515600" cy="672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" type="body"/>
          </p:nvPr>
        </p:nvSpPr>
        <p:spPr>
          <a:xfrm>
            <a:off x="7485870" y="3744802"/>
            <a:ext cx="3976406" cy="1808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298"/>
              </a:buClr>
              <a:buSzPts val="1800"/>
              <a:buFont typeface="Arial"/>
              <a:buNone/>
              <a:defRPr sz="1800">
                <a:solidFill>
                  <a:srgbClr val="00629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A78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A78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A78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A78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20"/>
          <p:cNvSpPr txBox="1"/>
          <p:nvPr/>
        </p:nvSpPr>
        <p:spPr>
          <a:xfrm>
            <a:off x="3007866" y="6323299"/>
            <a:ext cx="8956009" cy="477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A78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4A78"/>
                </a:solidFill>
                <a:latin typeface="arial"/>
                <a:ea typeface="arial"/>
                <a:cs typeface="arial"/>
                <a:sym typeface="arial"/>
              </a:rPr>
              <a:t>[Author Name], [Book Title], [#] Edition. © [Insert Year] Cengage. All Rights Reserved. May not be scanned, copied or duplicated, or posted to a publicly accessible website, in whole or in part.</a:t>
            </a:r>
            <a:endParaRPr/>
          </a:p>
        </p:txBody>
      </p:sp>
      <p:sp>
        <p:nvSpPr>
          <p:cNvPr id="68" name="Google Shape;68;p20"/>
          <p:cNvSpPr/>
          <p:nvPr>
            <p:ph idx="2" type="media"/>
          </p:nvPr>
        </p:nvSpPr>
        <p:spPr>
          <a:xfrm>
            <a:off x="838200" y="1530350"/>
            <a:ext cx="6297613" cy="43735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A7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04A78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A78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4A78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A78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004A78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A78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004A78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ed List" showMasterSp="0">
  <p:cSld name="Bulleted Lis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1"/>
          <p:cNvSpPr txBox="1"/>
          <p:nvPr>
            <p:ph type="title"/>
          </p:nvPr>
        </p:nvSpPr>
        <p:spPr>
          <a:xfrm>
            <a:off x="838200" y="365125"/>
            <a:ext cx="10515600" cy="672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" type="body"/>
          </p:nvPr>
        </p:nvSpPr>
        <p:spPr>
          <a:xfrm>
            <a:off x="743576" y="1638300"/>
            <a:ext cx="10711543" cy="4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4A78"/>
              </a:buClr>
              <a:buSzPts val="2000"/>
              <a:buFont typeface="Arial"/>
              <a:buChar char="•"/>
              <a:defRPr sz="2000">
                <a:solidFill>
                  <a:srgbClr val="000000"/>
                </a:solidFill>
              </a:defRPr>
            </a:lvl1pPr>
            <a:lvl2pPr indent="-355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6300"/>
              </a:buClr>
              <a:buSzPts val="2000"/>
              <a:buFont typeface="Arial"/>
              <a:buChar char="•"/>
              <a:defRPr sz="2000"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defRPr sz="2000"/>
            </a:lvl3pPr>
            <a:lvl4pPr indent="-2921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Char char="▶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Char char="⁃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21"/>
          <p:cNvSpPr txBox="1"/>
          <p:nvPr/>
        </p:nvSpPr>
        <p:spPr>
          <a:xfrm>
            <a:off x="3007866" y="6323299"/>
            <a:ext cx="8956009" cy="477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4A78"/>
                </a:solidFill>
                <a:latin typeface="Arial"/>
                <a:ea typeface="Arial"/>
                <a:cs typeface="Arial"/>
                <a:sym typeface="Arial"/>
              </a:rPr>
              <a:t>Joyce Farrell, Java Programming, 10th Edition. © 2023 Cengage. All Rights Reserved. May not be scanned, copied or duplicated, or posted to a publicly accessible website, in whole or in part.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ed List" showMasterSp="0">
  <p:cSld name="Numbered Lis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2"/>
          <p:cNvSpPr txBox="1"/>
          <p:nvPr>
            <p:ph type="title"/>
          </p:nvPr>
        </p:nvSpPr>
        <p:spPr>
          <a:xfrm>
            <a:off x="838200" y="365125"/>
            <a:ext cx="10515600" cy="672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2"/>
          <p:cNvSpPr txBox="1"/>
          <p:nvPr>
            <p:ph idx="1" type="body"/>
          </p:nvPr>
        </p:nvSpPr>
        <p:spPr>
          <a:xfrm>
            <a:off x="743576" y="1638300"/>
            <a:ext cx="10711543" cy="4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4A78"/>
              </a:buClr>
              <a:buSzPts val="2000"/>
              <a:buFont typeface="Calibri"/>
              <a:buAutoNum type="arabicPeriod"/>
              <a:defRPr sz="2000">
                <a:solidFill>
                  <a:srgbClr val="000000"/>
                </a:solidFill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6298"/>
              </a:buClr>
              <a:buSzPts val="2000"/>
              <a:buFont typeface="Arial"/>
              <a:buNone/>
              <a:defRPr sz="2000"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defRPr sz="2000"/>
            </a:lvl3pPr>
            <a:lvl4pPr indent="-2921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Char char="▶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Char char="⁃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2"/>
          <p:cNvSpPr txBox="1"/>
          <p:nvPr/>
        </p:nvSpPr>
        <p:spPr>
          <a:xfrm>
            <a:off x="3007866" y="6323299"/>
            <a:ext cx="8956009" cy="477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4A78"/>
                </a:solidFill>
                <a:latin typeface="Arial"/>
                <a:ea typeface="Arial"/>
                <a:cs typeface="Arial"/>
                <a:sym typeface="Arial"/>
              </a:rPr>
              <a:t>Joyce Farrell, Java Programming, 10th Edition. © 2023 Cengage. All Rights Reserved. May not be scanned, copied or duplicated, or posted to a publicly accessible website, in whole or in part.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ullets" showMasterSp="0">
  <p:cSld name="Title and Bullets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3"/>
          <p:cNvSpPr txBox="1"/>
          <p:nvPr>
            <p:ph type="title"/>
          </p:nvPr>
        </p:nvSpPr>
        <p:spPr>
          <a:xfrm>
            <a:off x="838200" y="365125"/>
            <a:ext cx="10515600" cy="672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" type="body"/>
          </p:nvPr>
        </p:nvSpPr>
        <p:spPr>
          <a:xfrm>
            <a:off x="743576" y="1638300"/>
            <a:ext cx="10711543" cy="4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4A78"/>
              </a:buClr>
              <a:buSzPts val="2000"/>
              <a:buFont typeface="Arial"/>
              <a:buChar char="•"/>
              <a:defRPr sz="2000">
                <a:solidFill>
                  <a:srgbClr val="004A78"/>
                </a:solidFill>
              </a:defRPr>
            </a:lvl1pPr>
            <a:lvl2pPr indent="-355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6298"/>
              </a:buClr>
              <a:buSzPts val="2000"/>
              <a:buFont typeface="Arial"/>
              <a:buChar char="•"/>
              <a:defRPr sz="2000"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defRPr sz="2000"/>
            </a:lvl3pPr>
            <a:lvl4pPr indent="-2921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Char char="▶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Char char="⁃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23"/>
          <p:cNvSpPr txBox="1"/>
          <p:nvPr/>
        </p:nvSpPr>
        <p:spPr>
          <a:xfrm>
            <a:off x="3007866" y="6323299"/>
            <a:ext cx="8956009" cy="477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A78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4A78"/>
                </a:solidFill>
                <a:latin typeface="arial"/>
                <a:ea typeface="arial"/>
                <a:cs typeface="arial"/>
                <a:sym typeface="arial"/>
              </a:rPr>
              <a:t>[Author Name], [Book Title], [#] Edition. © [Insert Year] Cengage. All Rights Reserved. May not be scanned, copied or duplicated, or posted to a publicly accessible website, in whole or in part.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 showMasterSp="0">
  <p:cSld name="Title and Table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4"/>
          <p:cNvSpPr txBox="1"/>
          <p:nvPr>
            <p:ph type="title"/>
          </p:nvPr>
        </p:nvSpPr>
        <p:spPr>
          <a:xfrm>
            <a:off x="838200" y="365125"/>
            <a:ext cx="10515600" cy="672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4"/>
          <p:cNvSpPr txBox="1"/>
          <p:nvPr/>
        </p:nvSpPr>
        <p:spPr>
          <a:xfrm>
            <a:off x="3007866" y="6323299"/>
            <a:ext cx="8956009" cy="477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A78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4A78"/>
                </a:solidFill>
                <a:latin typeface="arial"/>
                <a:ea typeface="arial"/>
                <a:cs typeface="arial"/>
                <a:sym typeface="arial"/>
              </a:rPr>
              <a:t>[Author Name], [Book Title], [#] Edition. © [Insert Year] Cengage. All Rights Reserved. May not be scanned, copied or duplicated, or posted to a publicly accessible website, in whole or in part.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838200" y="365125"/>
            <a:ext cx="10515600" cy="672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400" u="none" cap="none" strike="noStrike">
                <a:solidFill>
                  <a:srgbClr val="004A7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A7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04A7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A78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4A7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A78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004A7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A78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004A7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2" name="Google Shape;12;p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76843" y="6356350"/>
            <a:ext cx="1579562" cy="354013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9"/>
          <p:cNvSpPr txBox="1"/>
          <p:nvPr>
            <p:ph idx="11" type="ftr"/>
          </p:nvPr>
        </p:nvSpPr>
        <p:spPr>
          <a:xfrm>
            <a:off x="2934268" y="6356350"/>
            <a:ext cx="880166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629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title"/>
          </p:nvPr>
        </p:nvSpPr>
        <p:spPr>
          <a:xfrm>
            <a:off x="838200" y="365125"/>
            <a:ext cx="10515600" cy="672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06298"/>
                </a:solidFill>
                <a:latin typeface="Calibri"/>
                <a:ea typeface="Calibri"/>
                <a:cs typeface="Calibri"/>
                <a:sym typeface="Calibri"/>
              </a:rPr>
              <a:t>Python Syntax</a:t>
            </a:r>
            <a:endParaRPr b="1" sz="400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>
            <p:ph idx="1" type="body"/>
          </p:nvPr>
        </p:nvSpPr>
        <p:spPr>
          <a:xfrm>
            <a:off x="740228" y="1307327"/>
            <a:ext cx="4911271" cy="4243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Comments are ignored by the interpreter and are indicated by</a:t>
            </a:r>
            <a:endParaRPr/>
          </a:p>
          <a:p>
            <a:pPr indent="-457200" lvl="1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3838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#</a:t>
            </a:r>
            <a:endParaRPr/>
          </a:p>
          <a:p>
            <a:pPr indent="-457200" lvl="1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3838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Triple quotes for a comment block ‘’’ … ‘’’</a:t>
            </a:r>
            <a:endParaRPr/>
          </a:p>
          <a:p>
            <a:pPr indent="-2032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sz="220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200"/>
              <a:buFont typeface="Arial"/>
              <a:buChar char="•"/>
            </a:pPr>
            <a:r>
              <a:rPr b="1" lang="en-US" sz="22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Indentation is crucial</a:t>
            </a:r>
            <a:r>
              <a:rPr lang="en-US" sz="220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. Code blocks are indicated by the indentation.</a:t>
            </a:r>
            <a:endParaRPr/>
          </a:p>
          <a:p>
            <a:pPr indent="-2032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sz="220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3838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A tab is either 2 spaces or 4 spaces.</a:t>
            </a:r>
            <a:endParaRPr/>
          </a:p>
          <a:p>
            <a:pPr indent="-342900" lvl="1" marL="10287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3838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You decide if you want to use 2 or 4 spaces but you </a:t>
            </a:r>
            <a:r>
              <a:rPr b="1" i="1" lang="en-US" sz="22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must be consistent</a:t>
            </a:r>
            <a:endParaRPr i="1" sz="22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sz="220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 b="0" l="0" r="0" t="-1182"/>
          <a:stretch/>
        </p:blipFill>
        <p:spPr>
          <a:xfrm>
            <a:off x="5854700" y="1435100"/>
            <a:ext cx="6007100" cy="326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type="title"/>
          </p:nvPr>
        </p:nvSpPr>
        <p:spPr>
          <a:xfrm>
            <a:off x="838200" y="365125"/>
            <a:ext cx="10515600" cy="672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06298"/>
                </a:solidFill>
                <a:latin typeface="Calibri"/>
                <a:ea typeface="Calibri"/>
                <a:cs typeface="Calibri"/>
                <a:sym typeface="Calibri"/>
              </a:rPr>
              <a:t>Program branching</a:t>
            </a:r>
            <a:endParaRPr b="1" sz="400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 txBox="1"/>
          <p:nvPr>
            <p:ph idx="1" type="body"/>
          </p:nvPr>
        </p:nvSpPr>
        <p:spPr>
          <a:xfrm>
            <a:off x="740229" y="1307327"/>
            <a:ext cx="5978072" cy="4243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2800"/>
              <a:buFont typeface="Arial"/>
              <a:buNone/>
            </a:pPr>
            <a:r>
              <a:rPr lang="en-US" sz="280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A program is simply a sequence of statements.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3838"/>
              </a:buClr>
              <a:buSzPts val="2400"/>
              <a:buFont typeface="Arial"/>
              <a:buNone/>
            </a:pPr>
            <a:r>
              <a:rPr lang="en-US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US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branch</a:t>
            </a:r>
            <a:r>
              <a:rPr lang="en-US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 in a program is one that might execute different sequences of statements based on some condition.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70750" y="0"/>
            <a:ext cx="4191000" cy="38989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"/>
          <p:cNvSpPr txBox="1"/>
          <p:nvPr/>
        </p:nvSpPr>
        <p:spPr>
          <a:xfrm>
            <a:off x="622301" y="4604473"/>
            <a:ext cx="6096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True: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print(“true”)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 txBox="1"/>
          <p:nvPr>
            <p:ph type="title"/>
          </p:nvPr>
        </p:nvSpPr>
        <p:spPr>
          <a:xfrm>
            <a:off x="838200" y="365125"/>
            <a:ext cx="10515600" cy="672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06298"/>
                </a:solidFill>
                <a:latin typeface="Calibri"/>
                <a:ea typeface="Calibri"/>
                <a:cs typeface="Calibri"/>
                <a:sym typeface="Calibri"/>
              </a:rPr>
              <a:t>Program branching</a:t>
            </a:r>
            <a:endParaRPr b="1" sz="400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 txBox="1"/>
          <p:nvPr>
            <p:ph idx="1" type="body"/>
          </p:nvPr>
        </p:nvSpPr>
        <p:spPr>
          <a:xfrm>
            <a:off x="740229" y="1307327"/>
            <a:ext cx="5978072" cy="4243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2800"/>
              <a:buFont typeface="Arial"/>
              <a:buNone/>
            </a:pPr>
            <a:r>
              <a:rPr lang="en-US" sz="280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A program is simply a sequence of statements.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3838"/>
              </a:buClr>
              <a:buSzPts val="2400"/>
              <a:buFont typeface="Arial"/>
              <a:buNone/>
            </a:pPr>
            <a:r>
              <a:rPr lang="en-US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US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branch</a:t>
            </a:r>
            <a:r>
              <a:rPr lang="en-US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 in a program is one that might execute different sequences of statements based on some condition.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" name="Google Shape;10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70750" y="0"/>
            <a:ext cx="4191000" cy="3898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3"/>
          <p:cNvSpPr txBox="1"/>
          <p:nvPr/>
        </p:nvSpPr>
        <p:spPr>
          <a:xfrm>
            <a:off x="622301" y="4604473"/>
            <a:ext cx="6096000" cy="17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True: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print(“true”)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else: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print(“wasn’t true”)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print(“continuing with program”)</a:t>
            </a:r>
            <a:endParaRPr/>
          </a:p>
        </p:txBody>
      </p:sp>
      <p:pic>
        <p:nvPicPr>
          <p:cNvPr id="107" name="Google Shape;10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99199" y="4067175"/>
            <a:ext cx="5270500" cy="242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 txBox="1"/>
          <p:nvPr>
            <p:ph type="title"/>
          </p:nvPr>
        </p:nvSpPr>
        <p:spPr>
          <a:xfrm>
            <a:off x="838200" y="365125"/>
            <a:ext cx="10515600" cy="672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06298"/>
                </a:solidFill>
                <a:latin typeface="Calibri"/>
                <a:ea typeface="Calibri"/>
                <a:cs typeface="Calibri"/>
                <a:sym typeface="Calibri"/>
              </a:rPr>
              <a:t>Loops</a:t>
            </a:r>
            <a:endParaRPr b="1" sz="400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 txBox="1"/>
          <p:nvPr>
            <p:ph idx="1" type="body"/>
          </p:nvPr>
        </p:nvSpPr>
        <p:spPr>
          <a:xfrm>
            <a:off x="740228" y="1307327"/>
            <a:ext cx="6867071" cy="4243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2200"/>
              <a:buFont typeface="Arial"/>
              <a:buNone/>
            </a:pPr>
            <a:r>
              <a:rPr lang="en-US" sz="220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An </a:t>
            </a:r>
            <a:r>
              <a:rPr b="1" lang="en-US" sz="2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iteration</a:t>
            </a:r>
            <a:r>
              <a:rPr lang="en-US" sz="220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 is used when a portion of code is to be repeated many times.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sz="220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3838"/>
              </a:buClr>
              <a:buSzPts val="2200"/>
              <a:buFont typeface="Arial"/>
              <a:buNone/>
            </a:pPr>
            <a:r>
              <a:rPr lang="en-US" sz="220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A generic looping mechanism is comprised of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sz="220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3838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A test statement that evaluates to either True or False.</a:t>
            </a:r>
            <a:endParaRPr/>
          </a:p>
          <a:p>
            <a:pPr indent="-2032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sz="220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3838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If it evaluates to True, the loop body will execute and execution goes back to the top of the loop.</a:t>
            </a:r>
            <a:endParaRPr/>
          </a:p>
          <a:p>
            <a:pPr indent="-2032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sz="220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3838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If it evaluates the False, the code continues execution after the loop.</a:t>
            </a:r>
            <a:endParaRPr/>
          </a:p>
        </p:txBody>
      </p:sp>
      <p:pic>
        <p:nvPicPr>
          <p:cNvPr id="114" name="Google Shape;11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18400" y="1550173"/>
            <a:ext cx="4038600" cy="400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/>
          <p:nvPr>
            <p:ph type="title"/>
          </p:nvPr>
        </p:nvSpPr>
        <p:spPr>
          <a:xfrm>
            <a:off x="838200" y="365125"/>
            <a:ext cx="10515600" cy="672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06298"/>
                </a:solidFill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b="1" lang="en-US" sz="4000">
                <a:solidFill>
                  <a:srgbClr val="006298"/>
                </a:solidFill>
                <a:latin typeface="Calibri"/>
                <a:ea typeface="Calibri"/>
                <a:cs typeface="Calibri"/>
                <a:sym typeface="Calibri"/>
              </a:rPr>
              <a:t> Loops</a:t>
            </a:r>
            <a:endParaRPr b="1" sz="400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1449" y="2384060"/>
            <a:ext cx="9309102" cy="25943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/>
          <p:nvPr>
            <p:ph type="title"/>
          </p:nvPr>
        </p:nvSpPr>
        <p:spPr>
          <a:xfrm>
            <a:off x="838200" y="365125"/>
            <a:ext cx="10515600" cy="672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06298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1" lang="en-US" sz="4000">
                <a:solidFill>
                  <a:srgbClr val="006298"/>
                </a:solidFill>
                <a:latin typeface="Calibri"/>
                <a:ea typeface="Calibri"/>
                <a:cs typeface="Calibri"/>
                <a:sym typeface="Calibri"/>
              </a:rPr>
              <a:t> Loops</a:t>
            </a:r>
            <a:endParaRPr b="1" sz="400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 txBox="1"/>
          <p:nvPr>
            <p:ph idx="1" type="body"/>
          </p:nvPr>
        </p:nvSpPr>
        <p:spPr>
          <a:xfrm>
            <a:off x="740229" y="1307327"/>
            <a:ext cx="5978072" cy="4243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2200"/>
              <a:buFont typeface="Arial"/>
              <a:buNone/>
            </a:pPr>
            <a:r>
              <a:rPr lang="en-US" sz="220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For loop syntax: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sz="220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for </a:t>
            </a:r>
            <a:r>
              <a:rPr i="1" lang="en-US" sz="1800">
                <a:latin typeface="Courier New"/>
                <a:ea typeface="Courier New"/>
                <a:cs typeface="Courier New"/>
                <a:sym typeface="Courier New"/>
              </a:rPr>
              <a:t>num </a:t>
            </a: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in </a:t>
            </a:r>
            <a:r>
              <a:rPr i="1" lang="en-US" sz="1800">
                <a:latin typeface="Courier New"/>
                <a:ea typeface="Courier New"/>
                <a:cs typeface="Courier New"/>
                <a:sym typeface="Courier New"/>
              </a:rPr>
              <a:t>sequence</a:t>
            </a: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: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1" lang="en-US" sz="1800">
                <a:latin typeface="Courier New"/>
                <a:ea typeface="Courier New"/>
                <a:cs typeface="Courier New"/>
                <a:sym typeface="Courier New"/>
              </a:rPr>
              <a:t>	code block 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sz="220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3838"/>
              </a:buClr>
              <a:buSzPts val="2200"/>
              <a:buFont typeface="Arial"/>
              <a:buNone/>
            </a:pPr>
            <a:r>
              <a:rPr lang="en-US" sz="220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Code reads just like how you would describe this in words: “for each of the numbers in the sequence, execute the following code block”.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sz="220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3838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In Python, (77, 11, 3) is an object called a </a:t>
            </a:r>
            <a:r>
              <a:rPr lang="en-US" sz="2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tuple</a:t>
            </a:r>
            <a:r>
              <a:rPr lang="en-US" sz="220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 (a sequence of numbers).</a:t>
            </a:r>
            <a:endParaRPr/>
          </a:p>
          <a:p>
            <a:pPr indent="-2032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sz="220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3838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This loop takes each number in the tuple, and adds it to the </a:t>
            </a:r>
            <a:r>
              <a:rPr b="1" lang="en-US" sz="220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total </a:t>
            </a:r>
            <a:r>
              <a:rPr lang="en-US" sz="220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variable.</a:t>
            </a:r>
            <a:endParaRPr sz="2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" name="Google Shape;12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77100" y="2298700"/>
            <a:ext cx="4622800" cy="154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77100" y="4718050"/>
            <a:ext cx="3670300" cy="59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"/>
          <p:cNvSpPr txBox="1"/>
          <p:nvPr>
            <p:ph type="title"/>
          </p:nvPr>
        </p:nvSpPr>
        <p:spPr>
          <a:xfrm>
            <a:off x="838200" y="365125"/>
            <a:ext cx="10515600" cy="672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06298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1" lang="en-US" sz="4000">
                <a:solidFill>
                  <a:srgbClr val="006298"/>
                </a:solidFill>
                <a:latin typeface="Calibri"/>
                <a:ea typeface="Calibri"/>
                <a:cs typeface="Calibri"/>
                <a:sym typeface="Calibri"/>
              </a:rPr>
              <a:t> Loops</a:t>
            </a:r>
            <a:endParaRPr b="1" sz="400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 txBox="1"/>
          <p:nvPr>
            <p:ph idx="1" type="body"/>
          </p:nvPr>
        </p:nvSpPr>
        <p:spPr>
          <a:xfrm>
            <a:off x="740229" y="1307327"/>
            <a:ext cx="5978072" cy="4243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2200"/>
              <a:buFont typeface="Arial"/>
              <a:buNone/>
            </a:pPr>
            <a:r>
              <a:rPr lang="en-US" sz="220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For loop syntax: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sz="220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for </a:t>
            </a:r>
            <a:r>
              <a:rPr i="1" lang="en-US" sz="1800">
                <a:latin typeface="Courier New"/>
                <a:ea typeface="Courier New"/>
                <a:cs typeface="Courier New"/>
                <a:sym typeface="Courier New"/>
              </a:rPr>
              <a:t>num </a:t>
            </a: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in </a:t>
            </a:r>
            <a:r>
              <a:rPr i="1" lang="en-US" sz="1800">
                <a:latin typeface="Courier New"/>
                <a:ea typeface="Courier New"/>
                <a:cs typeface="Courier New"/>
                <a:sym typeface="Courier New"/>
              </a:rPr>
              <a:t>sequence</a:t>
            </a: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: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1" lang="en-US" sz="1800">
                <a:latin typeface="Courier New"/>
                <a:ea typeface="Courier New"/>
                <a:cs typeface="Courier New"/>
                <a:sym typeface="Courier New"/>
              </a:rPr>
              <a:t>	code block 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sz="220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3838"/>
              </a:buClr>
              <a:buSzPts val="2200"/>
              <a:buFont typeface="Arial"/>
              <a:buNone/>
            </a:pPr>
            <a:r>
              <a:rPr lang="en-US" sz="220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Code reads just like how you would describe this in words: “for each of the numbers in the sequence, execute the following code block”.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sz="220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3838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In Python, </a:t>
            </a:r>
            <a:r>
              <a:rPr b="1" lang="en-US" sz="220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range</a:t>
            </a:r>
            <a:r>
              <a:rPr lang="en-US" sz="220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 is a built-in function that returns a sequence of integers.</a:t>
            </a:r>
            <a:endParaRPr/>
          </a:p>
          <a:p>
            <a:pPr indent="-2032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sz="2200">
              <a:solidFill>
                <a:srgbClr val="3A383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3838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3A3838"/>
                </a:solidFill>
                <a:latin typeface="Courier New"/>
                <a:ea typeface="Courier New"/>
                <a:cs typeface="Courier New"/>
                <a:sym typeface="Courier New"/>
              </a:rPr>
              <a:t>range(start, stop, step)</a:t>
            </a:r>
            <a:endParaRPr sz="22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35" name="Google Shape;13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8301" y="625475"/>
            <a:ext cx="3416300" cy="586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"/>
          <p:cNvSpPr txBox="1"/>
          <p:nvPr>
            <p:ph type="title"/>
          </p:nvPr>
        </p:nvSpPr>
        <p:spPr>
          <a:xfrm>
            <a:off x="838200" y="365125"/>
            <a:ext cx="10515600" cy="672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06298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1" lang="en-US" sz="4000">
                <a:solidFill>
                  <a:srgbClr val="006298"/>
                </a:solidFill>
                <a:latin typeface="Calibri"/>
                <a:ea typeface="Calibri"/>
                <a:cs typeface="Calibri"/>
                <a:sym typeface="Calibri"/>
              </a:rPr>
              <a:t> Loops</a:t>
            </a:r>
            <a:endParaRPr b="1" sz="400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 txBox="1"/>
          <p:nvPr>
            <p:ph idx="1" type="body"/>
          </p:nvPr>
        </p:nvSpPr>
        <p:spPr>
          <a:xfrm>
            <a:off x="740229" y="1307327"/>
            <a:ext cx="5978072" cy="4243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2200"/>
              <a:buFont typeface="Arial"/>
              <a:buNone/>
            </a:pPr>
            <a:r>
              <a:rPr lang="en-US" sz="220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For loop syntax: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sz="220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for </a:t>
            </a:r>
            <a:r>
              <a:rPr i="1" lang="en-US" sz="1800">
                <a:latin typeface="Courier New"/>
                <a:ea typeface="Courier New"/>
                <a:cs typeface="Courier New"/>
                <a:sym typeface="Courier New"/>
              </a:rPr>
              <a:t>num </a:t>
            </a: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in </a:t>
            </a:r>
            <a:r>
              <a:rPr i="1" lang="en-US" sz="1800">
                <a:latin typeface="Courier New"/>
                <a:ea typeface="Courier New"/>
                <a:cs typeface="Courier New"/>
                <a:sym typeface="Courier New"/>
              </a:rPr>
              <a:t>sequence</a:t>
            </a: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: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1" lang="en-US" sz="1800">
                <a:latin typeface="Courier New"/>
                <a:ea typeface="Courier New"/>
                <a:cs typeface="Courier New"/>
                <a:sym typeface="Courier New"/>
              </a:rPr>
              <a:t>	code block 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sz="220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3838"/>
              </a:buClr>
              <a:buSzPts val="2200"/>
              <a:buFont typeface="Arial"/>
              <a:buNone/>
            </a:pPr>
            <a:r>
              <a:rPr lang="en-US" sz="220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Code reads just like how you would describe this in words: “for each of the numbers in the sequence, execute the following code block”.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sz="220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3838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In Python, </a:t>
            </a:r>
            <a:r>
              <a:rPr b="1" lang="en-US" sz="220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range</a:t>
            </a:r>
            <a:r>
              <a:rPr lang="en-US" sz="220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 is a built-in function that returns a sequence of integers.</a:t>
            </a:r>
            <a:endParaRPr/>
          </a:p>
          <a:p>
            <a:pPr indent="-2032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sz="2200">
              <a:solidFill>
                <a:srgbClr val="3A383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3838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3A3838"/>
                </a:solidFill>
                <a:latin typeface="Courier New"/>
                <a:ea typeface="Courier New"/>
                <a:cs typeface="Courier New"/>
                <a:sym typeface="Courier New"/>
              </a:rPr>
              <a:t>range(start, stop, step)</a:t>
            </a:r>
            <a:endParaRPr sz="22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42" name="Google Shape;14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78700" y="2698750"/>
            <a:ext cx="4318000" cy="181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Custom 1">
      <a:dk1>
        <a:srgbClr val="011892"/>
      </a:dk1>
      <a:lt1>
        <a:srgbClr val="FFFFFF"/>
      </a:lt1>
      <a:dk2>
        <a:srgbClr val="006198"/>
      </a:dk2>
      <a:lt2>
        <a:srgbClr val="E7E6E6"/>
      </a:lt2>
      <a:accent1>
        <a:srgbClr val="0098D4"/>
      </a:accent1>
      <a:accent2>
        <a:srgbClr val="00B7E6"/>
      </a:accent2>
      <a:accent3>
        <a:srgbClr val="81CFEC"/>
      </a:accent3>
      <a:accent4>
        <a:srgbClr val="E8255F"/>
      </a:accent4>
      <a:accent5>
        <a:srgbClr val="FF6300"/>
      </a:accent5>
      <a:accent6>
        <a:srgbClr val="F5B600"/>
      </a:accent6>
      <a:hlink>
        <a:srgbClr val="00B7E6"/>
      </a:hlink>
      <a:folHlink>
        <a:srgbClr val="0098D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2019-11-14T21:20:16Z</dcterms:created>
  <dc:creator>Kimberley Grove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0x0101003689A9510EA35640BFF9AA65172B1243</vt:lpwstr>
  </property>
  <property fmtid="{D5CDD505-2E9C-101B-9397-08002B2CF9AE}" pid="3" name="Order">
    <vt:r8>112600.0</vt:r8>
  </property>
  <property fmtid="{D5CDD505-2E9C-101B-9397-08002B2CF9AE}" pid="4" name="Category">
    <vt:lpwstr>Accessibility</vt:lpwstr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Document Type">
    <vt:lpwstr>Template</vt:lpwstr>
  </property>
  <property fmtid="{D5CDD505-2E9C-101B-9397-08002B2CF9AE}" pid="8" name="Audience">
    <vt:lpwstr>Content Developer</vt:lpwstr>
  </property>
  <property fmtid="{D5CDD505-2E9C-101B-9397-08002B2CF9AE}" pid="9" name="Department">
    <vt:lpwstr>GPM Training</vt:lpwstr>
  </property>
  <property fmtid="{D5CDD505-2E9C-101B-9397-08002B2CF9AE}" pid="10" name="ComplianceAssetId">
    <vt:lpwstr/>
  </property>
  <property fmtid="{D5CDD505-2E9C-101B-9397-08002B2CF9AE}" pid="11" name="TemplateUrl">
    <vt:lpwstr/>
  </property>
</Properties>
</file>